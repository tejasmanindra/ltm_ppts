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0" r:id="rId2"/>
    <p:sldId id="2147470501" r:id="rId3"/>
    <p:sldId id="2147470502" r:id="rId4"/>
    <p:sldId id="2147470494" r:id="rId5"/>
    <p:sldId id="2147470503" r:id="rId6"/>
    <p:sldId id="2147470491" r:id="rId7"/>
    <p:sldId id="2147470497" r:id="rId8"/>
    <p:sldId id="2147470505" r:id="rId9"/>
    <p:sldId id="2147470489" r:id="rId10"/>
    <p:sldId id="2147470492" r:id="rId11"/>
    <p:sldId id="2147470493" r:id="rId12"/>
    <p:sldId id="2147470499" r:id="rId13"/>
    <p:sldId id="2147470504" r:id="rId14"/>
    <p:sldId id="21474704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Multilingual RAG for Government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Scheme and Eligibility Guidance</a:t>
            </a:r>
          </a:p>
          <a:p>
            <a:pPr lvl="0" algn="ctr">
              <a:defRPr/>
            </a:pP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5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26076" cy="508423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Government information is distributed across numerous official portals, documents, schemes, policies, and notifications, making it difficult for citizens to quickly find relevant and reliable information.</a:t>
            </a:r>
          </a:p>
          <a:p>
            <a:r>
              <a:rPr lang="en-IN" b="0" dirty="0">
                <a:latin typeface="+mn-lt"/>
              </a:rPr>
              <a:t>This project proposes a Multilingual Retrieval-Augmented Generation (RAG) system that combines information retrieval with Large Language Models (LLMs) to provide responses grounded in official government sources.</a:t>
            </a:r>
          </a:p>
          <a:p>
            <a:r>
              <a:rPr lang="en-IN" b="0" dirty="0">
                <a:latin typeface="+mn-lt"/>
              </a:rPr>
              <a:t>The system focuses on Telugu and English, with an initial coverage of Telangana, Andhra Pradesh, and Central Government information, enabling users to access and understand government services and schemes through a reliable, user-friendly, and multilingual AI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5771213" y="57036"/>
            <a:ext cx="64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06779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1145" cy="521952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To develop a Multilingual Retrieval-Augmented Generation (RAG) system that enables citizens to efficiently access and understand accurate, contextual, and source-grounded government information in Telugu, Tamil and English.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Primary Use Case</a:t>
            </a:r>
          </a:p>
          <a:p>
            <a:r>
              <a:rPr lang="en-IN" b="0" dirty="0">
                <a:latin typeface="+mn-lt"/>
              </a:rPr>
              <a:t>The system acts as an intelligent interface for discovering and understanding government schemes and services. Users can query information related to:</a:t>
            </a:r>
          </a:p>
          <a:p>
            <a:pPr lvl="0"/>
            <a:r>
              <a:rPr lang="en-IN" b="0" dirty="0">
                <a:latin typeface="+mn-lt"/>
              </a:rPr>
              <a:t>Scheme benefits and purpose</a:t>
            </a:r>
          </a:p>
          <a:p>
            <a:pPr lvl="0"/>
            <a:r>
              <a:rPr lang="en-IN" b="0" dirty="0">
                <a:latin typeface="+mn-lt"/>
              </a:rPr>
              <a:t>Eligibility criteria, Required documents</a:t>
            </a:r>
          </a:p>
          <a:p>
            <a:pPr lvl="0"/>
            <a:r>
              <a:rPr lang="en-IN" b="0" dirty="0">
                <a:latin typeface="+mn-lt"/>
              </a:rPr>
              <a:t>Application procedure</a:t>
            </a:r>
          </a:p>
          <a:p>
            <a:pPr lvl="0"/>
            <a:r>
              <a:rPr lang="en-IN" b="0" dirty="0">
                <a:latin typeface="+mn-lt"/>
              </a:rPr>
              <a:t>Deadlines and relevant conditions, Government services and policies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5666281" y="57036"/>
            <a:ext cx="65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411852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06352" cy="5084236"/>
          </a:xfrm>
        </p:spPr>
        <p:txBody>
          <a:bodyPr/>
          <a:lstStyle/>
          <a:p>
            <a:r>
              <a:rPr lang="en-IN" sz="2600" b="0" dirty="0">
                <a:latin typeface="+mn-lt"/>
              </a:rPr>
              <a:t>The solution is intended for any citizen seeking government-related information, with particular relevance to:</a:t>
            </a:r>
          </a:p>
          <a:p>
            <a:pPr marL="0" indent="0">
              <a:buNone/>
            </a:pPr>
            <a:r>
              <a:rPr lang="en-IN" sz="2600" b="0" u="sng" dirty="0">
                <a:latin typeface="+mn-lt"/>
              </a:rPr>
              <a:t>It can support users such as:</a:t>
            </a:r>
          </a:p>
          <a:p>
            <a:pPr lvl="0"/>
            <a:r>
              <a:rPr lang="en-IN" sz="2600" b="0" dirty="0">
                <a:latin typeface="+mn-lt"/>
              </a:rPr>
              <a:t>Farmers — agricultural subsidies, crop-related schemes, farmer welfare programs</a:t>
            </a:r>
          </a:p>
          <a:p>
            <a:pPr lvl="0"/>
            <a:r>
              <a:rPr lang="en-IN" sz="2600" b="0" dirty="0">
                <a:latin typeface="+mn-lt"/>
              </a:rPr>
              <a:t>Students — scholarships, educational assistance, fee reimbursement</a:t>
            </a:r>
          </a:p>
          <a:p>
            <a:pPr lvl="0"/>
            <a:r>
              <a:rPr lang="en-IN" sz="2600" b="0" dirty="0">
                <a:latin typeface="+mn-lt"/>
              </a:rPr>
              <a:t>Women — women welfare and financial assistance schemes</a:t>
            </a:r>
          </a:p>
          <a:p>
            <a:pPr lvl="0"/>
            <a:r>
              <a:rPr lang="en-IN" sz="2600" b="0" dirty="0">
                <a:latin typeface="+mn-lt"/>
              </a:rPr>
              <a:t>Senior Citizens — pensions and social security schemes</a:t>
            </a:r>
          </a:p>
          <a:p>
            <a:pPr lvl="0"/>
            <a:r>
              <a:rPr lang="en-IN" sz="2600" b="0" dirty="0">
                <a:latin typeface="+mn-lt"/>
              </a:rPr>
              <a:t>Job Seekers — employment and skill-development programs</a:t>
            </a:r>
          </a:p>
          <a:p>
            <a:pPr lvl="0"/>
            <a:r>
              <a:rPr lang="en-IN" sz="2600" b="0" dirty="0">
                <a:latin typeface="+mn-lt"/>
              </a:rPr>
              <a:t>Entrepreneurs — business support, loans, subsidies, and MSME schemes</a:t>
            </a:r>
          </a:p>
          <a:p>
            <a:pPr lvl="0"/>
            <a:r>
              <a:rPr lang="en-IN" sz="2600" b="0" dirty="0">
                <a:latin typeface="+mn-lt"/>
              </a:rPr>
              <a:t>General Citizens — public services and government benefits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Target Users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5681272" y="57036"/>
            <a:ext cx="6510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A915-B086-ECB3-6C40-7D2C9248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BDC638-4772-490B-E166-3E9CB6AE1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5897" y="1481427"/>
            <a:ext cx="5260384" cy="5219522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Frontend: Streamlit </a:t>
            </a:r>
          </a:p>
          <a:p>
            <a:pPr lvl="0"/>
            <a:r>
              <a:rPr lang="en-IN" b="0" dirty="0">
                <a:latin typeface="+mn-lt"/>
              </a:rPr>
              <a:t>Backend: Python </a:t>
            </a:r>
          </a:p>
          <a:p>
            <a:pPr lvl="0"/>
            <a:r>
              <a:rPr lang="en-IN" b="0" dirty="0">
                <a:latin typeface="+mn-lt"/>
              </a:rPr>
              <a:t>LLM: Gemma 3 12B </a:t>
            </a:r>
          </a:p>
          <a:p>
            <a:pPr lvl="0"/>
            <a:r>
              <a:rPr lang="en-IN" b="0" dirty="0">
                <a:latin typeface="+mn-lt"/>
              </a:rPr>
              <a:t>LLM Runtime: </a:t>
            </a:r>
            <a:r>
              <a:rPr lang="en-IN" b="0" dirty="0" err="1">
                <a:latin typeface="+mn-lt"/>
              </a:rPr>
              <a:t>Ollama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>
                <a:latin typeface="+mn-lt"/>
              </a:rPr>
              <a:t>RAG Framework: LangChain </a:t>
            </a:r>
          </a:p>
          <a:p>
            <a:pPr lvl="0"/>
            <a:r>
              <a:rPr lang="en-IN" b="0" dirty="0">
                <a:latin typeface="+mn-lt"/>
              </a:rPr>
              <a:t>Embeddings: BGE-M3 </a:t>
            </a:r>
          </a:p>
          <a:p>
            <a:pPr lvl="0"/>
            <a:r>
              <a:rPr lang="en-IN" b="0" dirty="0">
                <a:latin typeface="+mn-lt"/>
              </a:rPr>
              <a:t>Vector Database: Qdrant </a:t>
            </a:r>
          </a:p>
          <a:p>
            <a:pPr lvl="0"/>
            <a:r>
              <a:rPr lang="en-IN" b="0" dirty="0">
                <a:latin typeface="+mn-lt"/>
              </a:rPr>
              <a:t>Database: PostgreSQL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AF457-9C0F-D08C-3776-6B3BA9B600A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Technical Stack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0E5C70-61B9-54E5-D927-BB85C1AA9C0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9D7493-C1E2-C96F-0BCF-CFC01AA631A5}"/>
              </a:ext>
            </a:extLst>
          </p:cNvPr>
          <p:cNvSpPr txBox="1"/>
          <p:nvPr/>
        </p:nvSpPr>
        <p:spPr>
          <a:xfrm>
            <a:off x="5666281" y="57036"/>
            <a:ext cx="65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60BAA8-E651-F14D-69A6-E8E6A206FBEE}"/>
              </a:ext>
            </a:extLst>
          </p:cNvPr>
          <p:cNvSpPr txBox="1">
            <a:spLocks/>
          </p:cNvSpPr>
          <p:nvPr/>
        </p:nvSpPr>
        <p:spPr>
          <a:xfrm>
            <a:off x="5568165" y="1481427"/>
            <a:ext cx="5260384" cy="52195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0" dirty="0"/>
              <a:t>OCR &amp; Document Processing: Tesseract OCR + PyMuPDF </a:t>
            </a:r>
            <a:endParaRPr lang="en-IN" dirty="0"/>
          </a:p>
          <a:p>
            <a:r>
              <a:rPr lang="en-IN" b="0" dirty="0"/>
              <a:t>Retrieval: Hybrid Search + Multilingual Reranking </a:t>
            </a:r>
            <a:endParaRPr lang="en-IN" dirty="0"/>
          </a:p>
          <a:p>
            <a:r>
              <a:rPr lang="en-IN" b="0" dirty="0"/>
              <a:t>Deployment: Docker </a:t>
            </a:r>
            <a:endParaRPr lang="en-IN" dirty="0"/>
          </a:p>
          <a:p>
            <a:r>
              <a:rPr lang="en-IN" b="0" dirty="0"/>
              <a:t>Version Control: Git + GitHub </a:t>
            </a:r>
            <a:endParaRPr lang="en-IN" dirty="0"/>
          </a:p>
          <a:p>
            <a:r>
              <a:rPr lang="en-IN" b="0" dirty="0"/>
              <a:t>Supported Languages: English, Telugu, Tamil …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4394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454078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1: Government Scheme Data Collection &amp; Knowledge Base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Collects and organizes verified government scheme information.</a:t>
            </a:r>
          </a:p>
          <a:p>
            <a:r>
              <a:rPr lang="en-IN" b="0" dirty="0">
                <a:latin typeface="+mn-lt"/>
              </a:rPr>
              <a:t>Module 2: Document Ingestion &amp; Preprocessing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Extracts, cleans, OCR-processes, and chunks government documents.</a:t>
            </a:r>
          </a:p>
          <a:p>
            <a:r>
              <a:rPr lang="en-IN" b="0" dirty="0">
                <a:latin typeface="+mn-lt"/>
              </a:rPr>
              <a:t>Module 3: Multilingual Query Understanding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Understands user queries in English/Telugu and identifies intent.</a:t>
            </a:r>
          </a:p>
          <a:p>
            <a:r>
              <a:rPr lang="en-IN" b="0" dirty="0">
                <a:latin typeface="+mn-lt"/>
              </a:rPr>
              <a:t>Module 4: Hybrid RAG Retrieval &amp; Reranking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Retrieves and ranks the most relevant scheme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5741233" y="57036"/>
            <a:ext cx="645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9FEF-96F2-F63B-13C1-F8DA8492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7353BF-CFD9-2389-FCC6-F6035AA85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987" y="1484059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5: Eligibility Assessment &amp; Rule Engine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Matches user details against scheme-specific eligibility rules.</a:t>
            </a:r>
          </a:p>
          <a:p>
            <a:r>
              <a:rPr lang="en-IN" b="0" dirty="0">
                <a:latin typeface="+mn-lt"/>
              </a:rPr>
              <a:t>Module 6: LLM-Based Response Generation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Generates grounded, multilingual responses using retrieved context.</a:t>
            </a:r>
          </a:p>
          <a:p>
            <a:r>
              <a:rPr lang="en-IN" b="0" dirty="0">
                <a:latin typeface="+mn-lt"/>
              </a:rPr>
              <a:t>Module 7: Source Verification &amp; Update Management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Tracks official sources, scheme changes, deadlines, and versions.</a:t>
            </a:r>
          </a:p>
          <a:p>
            <a:r>
              <a:rPr lang="en-IN" b="0" dirty="0">
                <a:latin typeface="+mn-lt"/>
              </a:rPr>
              <a:t>Module 8: Multilingual User Interface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Provides scheme search, eligibility checking, and personalized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5754E-3F74-F058-FC76-CD343D9BD95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7CD9E3-392A-10EE-761C-3BBC95B4BB2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CF763F-41F3-EDDF-4E2E-9F016478B7A2}"/>
              </a:ext>
            </a:extLst>
          </p:cNvPr>
          <p:cNvSpPr txBox="1"/>
          <p:nvPr/>
        </p:nvSpPr>
        <p:spPr>
          <a:xfrm>
            <a:off x="5666283" y="57036"/>
            <a:ext cx="652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75226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2CF8-D384-989C-2DFB-EC40A24E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0BB37C-80B0-DFC1-E512-3DB365463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61381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Multilingual RAG system for accessing government information in Telugu, Tamil and English.</a:t>
            </a:r>
          </a:p>
          <a:p>
            <a:pPr lvl="0"/>
            <a:r>
              <a:rPr lang="en-IN" b="0" dirty="0">
                <a:latin typeface="+mn-lt"/>
              </a:rPr>
              <a:t>Retrieve reliable information from official government sources to generate source-grounded responses.</a:t>
            </a:r>
          </a:p>
          <a:p>
            <a:pPr lvl="0"/>
            <a:r>
              <a:rPr lang="en-IN" b="0" dirty="0">
                <a:latin typeface="+mn-lt"/>
              </a:rPr>
              <a:t>Help citizens understand schemes, benefits, eligibility, required documents, and application procedures.</a:t>
            </a:r>
          </a:p>
          <a:p>
            <a:pPr lvl="0"/>
            <a:r>
              <a:rPr lang="en-IN" b="0" dirty="0">
                <a:latin typeface="+mn-lt"/>
              </a:rPr>
              <a:t>Support information from Telangana, Andhra Pradesh, and Central Government sources.</a:t>
            </a:r>
          </a:p>
          <a:p>
            <a:pPr lvl="0"/>
            <a:r>
              <a:rPr lang="en-IN" b="0" dirty="0">
                <a:latin typeface="+mn-lt"/>
              </a:rPr>
              <a:t>Improve the accessibility, reliability, and usability of government information for citizens.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0D36D-44E4-97F7-A278-2524548552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Project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26B3E7-347D-2AA3-A5DE-B920C8D8535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9A4EB9-8961-3F46-D0ED-17883283415A}"/>
              </a:ext>
            </a:extLst>
          </p:cNvPr>
          <p:cNvSpPr txBox="1"/>
          <p:nvPr/>
        </p:nvSpPr>
        <p:spPr>
          <a:xfrm>
            <a:off x="5591331" y="57036"/>
            <a:ext cx="660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3112081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Agentic AI for Business Intelligence,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Insights and Strategic Recommendations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4183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5390"/>
            <a:ext cx="11826076" cy="508423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E-commerce businesses generate large volumes of business data from orders, customers, products, marketing, inventory, and returns. </a:t>
            </a:r>
          </a:p>
          <a:p>
            <a:pPr lvl="0"/>
            <a:r>
              <a:rPr lang="en-IN" b="0" dirty="0">
                <a:latin typeface="+mn-lt"/>
              </a:rPr>
              <a:t>Business leaders need quick and accurate insights to make strategic decisions. </a:t>
            </a:r>
          </a:p>
          <a:p>
            <a:pPr lvl="0"/>
            <a:r>
              <a:rPr lang="en-IN" b="0" dirty="0">
                <a:latin typeface="+mn-lt"/>
              </a:rPr>
              <a:t>Traditional BI systems mainly provide dashboards and reports, requiring manual analysis. </a:t>
            </a:r>
          </a:p>
          <a:p>
            <a:pPr lvl="0"/>
            <a:r>
              <a:rPr lang="en-IN" b="0" dirty="0">
                <a:latin typeface="+mn-lt"/>
              </a:rPr>
              <a:t>Our system uses Agentic AI to automatically analyze data, identify insights, and find root causes. </a:t>
            </a:r>
          </a:p>
          <a:p>
            <a:pPr lvl="0"/>
            <a:r>
              <a:rPr lang="en-IN" b="0" dirty="0">
                <a:latin typeface="+mn-lt"/>
              </a:rPr>
              <a:t>It provides KPIs, visualizations, business insights, and strategic recommendations to support faster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098623" y="57036"/>
            <a:ext cx="1009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an Agentic AI-powered BI system for e-commerce business analysis. </a:t>
            </a:r>
          </a:p>
          <a:p>
            <a:pPr lvl="0"/>
            <a:r>
              <a:rPr lang="en-IN" b="0" dirty="0">
                <a:latin typeface="+mn-lt"/>
              </a:rPr>
              <a:t>Automate data analysis from orders, customers, products, marketing, inventory, and other business data. </a:t>
            </a:r>
          </a:p>
          <a:p>
            <a:pPr lvl="0"/>
            <a:r>
              <a:rPr lang="en-IN" b="0" dirty="0">
                <a:latin typeface="+mn-lt"/>
              </a:rPr>
              <a:t>Generate meaningful business insights and identify the root causes behind KPI changes. </a:t>
            </a:r>
          </a:p>
          <a:p>
            <a:pPr lvl="0"/>
            <a:r>
              <a:rPr lang="en-IN" b="0" dirty="0">
                <a:latin typeface="+mn-lt"/>
              </a:rPr>
              <a:t>Provide strategic, actionable recommendations to support business decisions. </a:t>
            </a:r>
          </a:p>
          <a:p>
            <a:pPr lvl="0"/>
            <a:r>
              <a:rPr lang="en-IN" b="0" dirty="0">
                <a:latin typeface="+mn-lt"/>
              </a:rPr>
              <a:t>Enable faster decision-making through KPIs, visualizations, AI insights, and automated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353456" y="57036"/>
            <a:ext cx="983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8F57-0CA5-7D66-9A41-5F62A054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B83543-8AE3-E60A-1AAA-7CE80544A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25054"/>
            <a:ext cx="11736136" cy="5010854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Natural Language Query &amp; Understanding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Understand business questions asked in natural language.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AI-Based SQL Generation &amp; Data Retrieval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Convert questions into SQL queries and retrieve relevant data from PostgreSQL.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Data Analysis &amp; Visualization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Generate KPIs, trends, charts, and executive dashboards.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AI Insights &amp; Root Cause Analysis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Identify business problems, explain </a:t>
            </a:r>
            <a:r>
              <a:rPr lang="en-IN" b="1" dirty="0">
                <a:solidFill>
                  <a:schemeClr val="accent1"/>
                </a:solidFill>
              </a:rPr>
              <a:t>why they occurred</a:t>
            </a:r>
            <a:r>
              <a:rPr lang="en-IN" dirty="0">
                <a:solidFill>
                  <a:schemeClr val="accent1"/>
                </a:solidFill>
              </a:rPr>
              <a:t>, and analyze their impact.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Strategic Recommendations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Provide actionable recommendations based on insights and business performance.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1"/>
                </a:solidFill>
                <a:latin typeface="+mn-lt"/>
              </a:rPr>
              <a:t>Automated Reporting &amp; CI/CD 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Generate PDF/email reports and support automated </a:t>
            </a:r>
            <a:r>
              <a:rPr lang="en-IN" b="1" dirty="0">
                <a:solidFill>
                  <a:schemeClr val="accent1"/>
                </a:solidFill>
              </a:rPr>
              <a:t>CI/CD deployment</a:t>
            </a:r>
            <a:r>
              <a:rPr lang="en-IN" dirty="0">
                <a:solidFill>
                  <a:schemeClr val="accent1"/>
                </a:solidFill>
              </a:rPr>
              <a:t> of the application.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0FE61-9C3F-0B4B-BB5E-4C1641E432D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D7BA86-32E8-9998-4A81-A8D53307BB67}"/>
              </a:ext>
            </a:extLst>
          </p:cNvPr>
          <p:cNvCxnSpPr>
            <a:cxnSpLocks/>
          </p:cNvCxnSpPr>
          <p:nvPr/>
        </p:nvCxnSpPr>
        <p:spPr>
          <a:xfrm>
            <a:off x="255995" y="1148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7DF884-5225-3B07-2EEA-500ECC19692F}"/>
              </a:ext>
            </a:extLst>
          </p:cNvPr>
          <p:cNvSpPr txBox="1"/>
          <p:nvPr/>
        </p:nvSpPr>
        <p:spPr>
          <a:xfrm>
            <a:off x="2053652" y="57036"/>
            <a:ext cx="101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69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255E-FD01-1035-1CCD-DF186694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9655E8-86DD-6B29-A7B1-AE70228A96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3431"/>
            <a:ext cx="11830817" cy="5279468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Programming Language: Python </a:t>
            </a:r>
          </a:p>
          <a:p>
            <a:pPr lvl="0"/>
            <a:r>
              <a:rPr lang="en-IN" b="0" dirty="0">
                <a:latin typeface="+mn-lt"/>
              </a:rPr>
              <a:t>Frontend: Streamlit + </a:t>
            </a:r>
            <a:r>
              <a:rPr lang="en-IN" b="0" dirty="0" err="1">
                <a:latin typeface="+mn-lt"/>
              </a:rPr>
              <a:t>Plotly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>
                <a:latin typeface="+mn-lt"/>
              </a:rPr>
              <a:t>Backend: </a:t>
            </a:r>
            <a:r>
              <a:rPr lang="en-IN" b="0" dirty="0" err="1">
                <a:latin typeface="+mn-lt"/>
              </a:rPr>
              <a:t>FastAPI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>
                <a:latin typeface="+mn-lt"/>
              </a:rPr>
              <a:t>AI Layer: Agentic AI / LLM-based Agents </a:t>
            </a:r>
          </a:p>
          <a:p>
            <a:pPr lvl="0"/>
            <a:r>
              <a:rPr lang="en-IN" b="0" dirty="0">
                <a:latin typeface="+mn-lt"/>
              </a:rPr>
              <a:t>Database: PostgreSQL </a:t>
            </a:r>
          </a:p>
          <a:p>
            <a:pPr lvl="0"/>
            <a:r>
              <a:rPr lang="en-IN" b="0" dirty="0">
                <a:latin typeface="+mn-lt"/>
              </a:rPr>
              <a:t>Data Processing: Pandas + </a:t>
            </a:r>
            <a:r>
              <a:rPr lang="en-IN" b="0" dirty="0" err="1">
                <a:latin typeface="+mn-lt"/>
              </a:rPr>
              <a:t>SQLAlchemy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>
                <a:latin typeface="+mn-lt"/>
              </a:rPr>
              <a:t>API Communication: REST APIs </a:t>
            </a:r>
          </a:p>
          <a:p>
            <a:pPr lvl="0"/>
            <a:r>
              <a:rPr lang="en-IN" b="0" dirty="0">
                <a:latin typeface="+mn-lt"/>
              </a:rPr>
              <a:t>DevOps: Docker + GitHub Actions (CI/CD) </a:t>
            </a:r>
          </a:p>
          <a:p>
            <a:pPr lvl="0"/>
            <a:r>
              <a:rPr lang="en-IN" b="0" dirty="0">
                <a:latin typeface="+mn-lt"/>
              </a:rPr>
              <a:t>Reporting: PDF &amp; Email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F3AB8-0687-1367-81F5-DF39A759D6D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Technical Stack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B66F89-E41E-79CD-0250-EE3F09DE365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4AE95D-767E-B3B3-CD8C-189BD046AC6D}"/>
              </a:ext>
            </a:extLst>
          </p:cNvPr>
          <p:cNvSpPr txBox="1"/>
          <p:nvPr/>
        </p:nvSpPr>
        <p:spPr>
          <a:xfrm>
            <a:off x="3788229" y="57036"/>
            <a:ext cx="840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01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06130"/>
            <a:ext cx="11646194" cy="5084233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The project is an Agentic AI-powered Business Intelligence system designed for e-commerce businesses. </a:t>
            </a:r>
          </a:p>
          <a:p>
            <a:pPr lvl="0"/>
            <a:r>
              <a:rPr lang="en-IN" b="0" dirty="0">
                <a:latin typeface="+mn-lt"/>
              </a:rPr>
              <a:t>It converts raw business data into KPIs, visualizations, and meaningful business insights. </a:t>
            </a:r>
          </a:p>
          <a:p>
            <a:pPr lvl="0"/>
            <a:r>
              <a:rPr lang="en-IN" b="0" dirty="0">
                <a:latin typeface="+mn-lt"/>
              </a:rPr>
              <a:t>Users can ask questions in natural language, and the system </a:t>
            </a:r>
            <a:r>
              <a:rPr lang="en-IN" b="0" dirty="0" err="1">
                <a:latin typeface="+mn-lt"/>
              </a:rPr>
              <a:t>analyzes</a:t>
            </a:r>
            <a:r>
              <a:rPr lang="en-IN" b="0" dirty="0">
                <a:latin typeface="+mn-lt"/>
              </a:rPr>
              <a:t> the required data automatically. </a:t>
            </a:r>
          </a:p>
          <a:p>
            <a:pPr lvl="0"/>
            <a:r>
              <a:rPr lang="en-IN" b="0" dirty="0">
                <a:latin typeface="+mn-lt"/>
              </a:rPr>
              <a:t>AI identifies what happened, why it happened, and the possible business impact through root-cause analysis. </a:t>
            </a:r>
          </a:p>
          <a:p>
            <a:pPr lvl="0"/>
            <a:r>
              <a:rPr lang="en-IN" b="0" dirty="0">
                <a:latin typeface="+mn-lt"/>
              </a:rPr>
              <a:t>The system provides actionable strategic recommendations and automated reports to help founders and managers make faster, data-driven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of Project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2368446" y="57036"/>
            <a:ext cx="982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1139</Words>
  <Application>Microsoft Office PowerPoint</Application>
  <PresentationFormat>Widescreen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Tejas Manindra Mudapaka</cp:lastModifiedBy>
  <cp:revision>56</cp:revision>
  <dcterms:created xsi:type="dcterms:W3CDTF">2024-05-13T10:33:11Z</dcterms:created>
  <dcterms:modified xsi:type="dcterms:W3CDTF">2026-09-11T08:54:16Z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